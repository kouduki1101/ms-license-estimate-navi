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92e70da13040f2" /><Relationship Type="http://schemas.openxmlformats.org/officeDocument/2006/relationships/extended-properties" Target="/docProps/app.xml" Id="R60ccb55e831343f8" /><Relationship Type="http://schemas.openxmlformats.org/officeDocument/2006/relationships/officeDocument" Target="/ppt/presentation.xml" Id="R989bf2f834754b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a4a099ea594c60"/>
  </p:sldMasterIdLst>
  <p:notesMasterIdLst>
    <p:notesMasterId xmlns:r="http://schemas.openxmlformats.org/officeDocument/2006/relationships" r:id="R9bfcd27479894c15"/>
  </p:notesMasterIdLst>
  <p:sldIdLst>
    <p:sldId xmlns:r="http://schemas.openxmlformats.org/officeDocument/2006/relationships" id="256" r:id="R88368a2105c24b2e"/>
    <p:sldId xmlns:r="http://schemas.openxmlformats.org/officeDocument/2006/relationships" id="257" r:id="R1a3b4ee44f3c465e"/>
    <p:sldId xmlns:r="http://schemas.openxmlformats.org/officeDocument/2006/relationships" id="258" r:id="R40e53ed032794ed6"/>
    <p:sldId xmlns:r="http://schemas.openxmlformats.org/officeDocument/2006/relationships" id="259" r:id="R9b63fed83a304e0a"/>
    <p:sldId xmlns:r="http://schemas.openxmlformats.org/officeDocument/2006/relationships" id="260" r:id="Rd395623910434e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4a099ea594c60" /><Relationship Type="http://schemas.openxmlformats.org/officeDocument/2006/relationships/theme" Target="/ppt/theme/theme1.xml" Id="Rbc4ea5f54db0453a" /><Relationship Type="http://schemas.openxmlformats.org/officeDocument/2006/relationships/notesMaster" Target="/ppt/notesMasters/notesMaster1.xml" Id="R9bfcd27479894c15" /><Relationship Type="http://schemas.openxmlformats.org/officeDocument/2006/relationships/presProps" Target="/ppt/presProps.xml" Id="R2e98a8502a9049fc" /><Relationship Type="http://schemas.openxmlformats.org/officeDocument/2006/relationships/viewProps" Target="/ppt/viewProps.xml" Id="R1c011490e24147de" /><Relationship Type="http://schemas.openxmlformats.org/officeDocument/2006/relationships/tableStyles" Target="/ppt/tableStyles.xml" Id="Rc16c6edd5f0c4d8d" /><Relationship Type="http://schemas.openxmlformats.org/officeDocument/2006/relationships/slide" Target="/ppt/slides/slide1.xml" Id="R88368a2105c24b2e" /><Relationship Type="http://schemas.openxmlformats.org/officeDocument/2006/relationships/slide" Target="/ppt/slides/slide2.xml" Id="R1a3b4ee44f3c465e" /><Relationship Type="http://schemas.openxmlformats.org/officeDocument/2006/relationships/slide" Target="/ppt/slides/slide3.xml" Id="R40e53ed032794ed6" /><Relationship Type="http://schemas.openxmlformats.org/officeDocument/2006/relationships/slide" Target="/ppt/slides/slide4.xml" Id="R9b63fed83a304e0a" /><Relationship Type="http://schemas.openxmlformats.org/officeDocument/2006/relationships/slide" Target="/ppt/slides/slide5.xml" Id="Rd395623910434e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63fe79c43cc4c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c78a3b60204944" /><Relationship Type="http://schemas.openxmlformats.org/officeDocument/2006/relationships/notesMaster" Target="/ppt/notesMasters/notesMaster1.xml" Id="R8da2741e85374e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7b1a7b306f4d50" /><Relationship Type="http://schemas.openxmlformats.org/officeDocument/2006/relationships/notesMaster" Target="/ppt/notesMasters/notesMaster1.xml" Id="Rf27e426face741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5e9c8fa1647ef" /><Relationship Type="http://schemas.openxmlformats.org/officeDocument/2006/relationships/notesMaster" Target="/ppt/notesMasters/notesMaster1.xml" Id="Rab169231ddbb47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271e709429475c" /><Relationship Type="http://schemas.openxmlformats.org/officeDocument/2006/relationships/notesMaster" Target="/ppt/notesMasters/notesMaster1.xml" Id="R4218a0ed584649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12590c6a78494b" /><Relationship Type="http://schemas.openxmlformats.org/officeDocument/2006/relationships/notesMaster" Target="/ppt/notesMasters/notesMaster1.xml" Id="R63a8a8a4441e4b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db1f0cae0473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cc091786d624f16" /><Relationship Type="http://schemas.openxmlformats.org/officeDocument/2006/relationships/slideLayout" Target="/ppt/slideLayouts/slideLayout2.xml" Id="R334502a231d942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4502a231d942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caf6e1865c42bf" /><Relationship Type="http://schemas.openxmlformats.org/officeDocument/2006/relationships/notesSlide" Target="/ppt/notesSlides/notesSlide1.xml" Id="R2c4d67b3577144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ae6059bad44226" /><Relationship Type="http://schemas.openxmlformats.org/officeDocument/2006/relationships/notesSlide" Target="/ppt/notesSlides/notesSlide2.xml" Id="Ra3c394c1037f4d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84a2592caf40dd" /><Relationship Type="http://schemas.openxmlformats.org/officeDocument/2006/relationships/notesSlide" Target="/ppt/notesSlides/notesSlide3.xml" Id="R3f86bb88afe847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75dc67ae94dd7" /><Relationship Type="http://schemas.openxmlformats.org/officeDocument/2006/relationships/notesSlide" Target="/ppt/notesSlides/notesSlide4.xml" Id="Rccdc76b94e3048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aeb77c96834c58" /><Relationship Type="http://schemas.openxmlformats.org/officeDocument/2006/relationships/notesSlide" Target="/ppt/notesSlides/notesSlide5.xml" Id="R5777cca70eac49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D01138-4E6A-4F21-A14E-A1917A4A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C0A79E-7ECE-49BC-8358-350EFCB6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562C80-BAFC-4BE9-88F1-A962A9DD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PROPOSAL ROUGH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A1189-8D84-4101-8E65-E13288F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239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営業部向けAI業務支援PoC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DBAD1-1266-4D7A-89AC-FFC53D1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95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営業担当が過去提案、FAQ、商談メモを検索し、提案書作成と意思決定を支援する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EC44C-42C5-43F9-AFAD-F4B38484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B43C6-F89F-483B-BDAE-180A0AC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F3253-D9DE-4D1A-8133-21139653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$1,814.34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7297F-0584-415F-8E7D-FB6DB311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月額概算 USD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46C2A-2B5C-40F2-B976-3B08C836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DD3E1-DD1D-44B0-86B3-CB2ECFBA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7235F-5B85-4FF2-84CA-A547CEA6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$21,772.08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4C1B6-77E2-4663-BFB6-AA833496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年額概算 USD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E455D-388F-4760-80DB-88E459AC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73DBF-BB6F-4621-AD28-5A48776A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64A97-94E6-4354-9D34-8D3D19AC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226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¥281,586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8B008-28C2-40C1-8275-3F2F439C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月額概算 JPY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8C357-7BA2-4B47-858D-A3F5331F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426F7-D2BF-430A-87B9-E24A613E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61E5A-D205-4D91-9DA7-AC144A4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8135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5A879-73D9-4C2D-9880-730447F6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62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追加/従量候補SKU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2A7E8-74D3-47A7-BAC4-0220281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3371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E5299-4544-4B79-AEB1-D6D26883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BDB0D-B5E6-45C9-8695-8AB7F892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対象範囲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2F129-B826-4292-BDFF-F004C424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3067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営業部 / 営業企画 / プリセールス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利用者 120名、Maker 15名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5B5A25-0309-4C62-A651-0FCB4896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3371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1A37D-904A-442B-ADCC-25CBF48F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7104B-0BFF-4D76-8D70-AEEE8234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価格前提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E89E68-DA20-4D8A-8BAA-75963295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67300"/>
            <a:ext cx="3067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2026-06-14 09:00 +09:00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1 USD = 155.2 JPY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40B60-A2B3-451E-8188-14548DD8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AEBF0-A6B8-4F18-8EA1-9221284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199F7A-4838-46FE-9BAA-440B8FC5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6250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判定位置づけ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1BDD74-06D0-44B6-917D-AB36540D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提案前の概算。税・EA/CSP割引・契約条件は未反映。</a:t>
            </a:r>
          </a:p>
        </p:txBody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57F97BBD-0906-4C2A-AD18-8105859F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Source: Microsoft official pages / Azure Retail Prices snapshots; rough order only.</a:t>
            </a:r>
          </a:p>
        </p:txBody>
      </p:sp>
      <p:sp>
        <p:nvSpPr>
          <p:cNvPr id="3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2EF323B-DA25-4C63-81E8-D1A4A83B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31370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A45DCB-F596-4699-876E-8D15EC1A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CF7A81-44F3-4297-9533-9C9E8721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8AA8BE-A75C-41DE-8D40-B49870F2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74136-B278-4AB6-A0B2-32DCC84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営業ナレッジとAI支援をPower PlatformとAzureでつなぐ。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1D485-DDA9-4415-8EAF-C17542D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ライセンス数量は、利用者数、Maker数、会話容量、Azure従量課金メーターに分解して概算する。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0B35C-2773-4821-8127-E31EE018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56AC3-EC49-4D06-A97E-AE8EA166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76B4C-871B-4585-B739-BBEF6FE5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利用者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0F1B8-582C-4214-85CE-68C12723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123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営業 / 営業企画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プリセールス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8750E-5277-467F-B114-1638284B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FA28C-FDDA-4C51-8229-9D0C456C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1C6EC-6CE9-41C2-B612-6D56D148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193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Microsoft 365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FF9CA-85CB-4F91-B326-0E490FAA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SharePoint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Teams / Office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7A803-CFA4-4F40-867C-90B6B13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3380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FBA84-EC3D-48F2-807F-99B26826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338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611D2-D61D-41DB-BBC4-B3C34112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671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Power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3439B-8DF7-4839-85A0-386A4D4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Power Apps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Power Automate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A6A8B-923F-45DC-B285-F14F937D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D8E36-6B66-450F-9428-B6183D51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11A6F-E242-4FFB-A76B-768AF4A7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Copilot Studio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39879-1EFD-4872-872B-A764A834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会話UI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業務エージェント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A67A0-409B-4A6D-A197-544D2851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DBBB3D-4CD8-4339-9A2D-C1D87412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24E4BE-719E-4E7E-88F5-6327997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Azure OpenAI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E97A8-9C64-4E4F-99E4-933056A4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62300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gpt-4o-mini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入力/出力メーター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7F488-FE14-4B8F-B09B-33B70B5F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2DAC3-3F06-4119-A65F-547D36D4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92BFD0-E747-482C-9A7B-980F34AC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193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Power BI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25602-A7CE-4493-800A-0450E48C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2415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提案KPI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利用状況分析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17615E-4596-48B9-A38B-4A971599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33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EF0F1B-A482-4F38-8A74-76E86AFA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338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DD3C7E-7388-40AF-BD6A-062B6877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67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448BBE-A00C-41F0-A965-02105A1C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Entra ID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Monitor / Defender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995805-244C-4D72-A363-9930F6DB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956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80E20F-6AFD-4DEC-BECE-DE97F237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7AAE04-C84C-47DF-9CCA-85FF75D4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61D20E-ABDA-44DE-894D-8580C734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956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310E29-AF42-4AEA-ADEE-9A6FA769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0F5D5E-6D8D-4B24-BD90-7EFFBAFB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053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9FF04B-AB9E-4CC1-BB17-3D54AE8E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主な設計単位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DFDEBF-2F18-46F2-9126-49371C96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AI利用量はトークンメーターを合算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202D15-4B52-4129-8522-3DC4DF1B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可視化・認証・監視</a:t>
            </a:r>
          </a:p>
        </p:txBody>
      </p:sp>
      <p:sp>
        <p:nvSpPr>
          <p:cNvPr id="43" name="footer">
            <a:extLst xmlns:a="http://schemas.openxmlformats.org/drawingml/2006/main">
              <a:ext uri="{FF2B5EF4-FFF2-40B4-BE49-F238E27FC236}">
                <a16:creationId xmlns:a16="http://schemas.microsoft.com/office/drawing/2014/main" id="{EDB372C5-4B60-4FE4-98B5-E5E11056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Architecture is a simplified proposal-stage view; final licensing requires contract review.</a:t>
            </a:r>
          </a:p>
        </p:txBody>
      </p:sp>
      <p:sp>
        <p:nvSpPr>
          <p:cNvPr id="4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714963F-2E54-492D-BB88-EDC0B7A8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8011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18175-8428-41FE-A46E-691202BB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4D6612-F99F-4BCD-8BC3-F17F5C0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A68B7B-0502-4156-B8E0-7A405F7A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COST BREAKDOWN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4E88A-FE97-4241-A0EF-254E11E4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月額はEntra/DefenderとPower Platformが大半を占める。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7B762-60A2-457B-B31F-B1B5B4FB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既存Microsoft 365 E3とPower BI Proは充足扱い。追加分だけを合算して、月額・年額の概算を出す。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6359E-2794-4786-8386-A43FF56A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Microsoft Entra ID / 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6AF60-1FCB-4B1F-A601-162C20FC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390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40938-73A1-41D8-9371-AF331F77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390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47E6D-0EA2-4577-B719-35A290C2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145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$720.00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40838-AE72-4629-BD58-0E953EE4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Microsoft Defender for Business / Defender for Business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A5CE1-B284-4ED6-BF00-D31015C1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38450"/>
            <a:ext cx="390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42EC1-9846-489F-8D28-C60DFF79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38450"/>
            <a:ext cx="1952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2109D-340D-4B86-A0E1-DBCA4467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71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$360.00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E1EF0-2C60-40EC-9931-509A218A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Power Apps / Premium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73D23-AB31-488F-BE40-7250BFE1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95650"/>
            <a:ext cx="390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038EB-AFB2-4C39-9E2C-FE601E5E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95650"/>
            <a:ext cx="162718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2CCA3-4A32-428A-88BE-FD76993A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289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$300.00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43B6D-66A6-4C76-BDDA-5F2CE15E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Power Automate / Premium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5E230-E47F-4B1A-A7A4-99DCBA2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52850"/>
            <a:ext cx="390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21D14-BB1F-418D-831E-58C411E4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52850"/>
            <a:ext cx="122039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7A168-3695-4081-9583-02C520AA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861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$225.00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69820-CA11-42F5-A200-625D2580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Copilot Studio / Messages or capacity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7F920-5FDC-41C6-AAB4-5A2E3582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0050"/>
            <a:ext cx="390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4EE07-A854-4349-8D0D-3E70F317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0050"/>
            <a:ext cx="1084792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33020-1D70-429E-9848-532F9D91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433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$200.00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2004B-ECF4-4ECF-B009-BCD1A97B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Azure OpenAI / Token usage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0A268E-EE1F-481E-9D4C-36C5C14E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67250"/>
            <a:ext cx="390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2C178-CD05-43A7-AB74-B5568EF0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67250"/>
            <a:ext cx="38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73B1DE-09D5-46E5-BC25-FA851D9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005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$6.00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1090E-AB7C-49D9-84CB-6289C681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Azure Monitor / Log ingestion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71C614-372E-4847-AB3E-D765113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24450"/>
            <a:ext cx="390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C0F990-E96B-451D-9318-7269180F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24450"/>
            <a:ext cx="381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4099DB-C95A-402D-AA59-BE1E8845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57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$3.34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9EB88E-1AA1-4AB1-8293-33424B2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0300"/>
            <a:ext cx="2266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F31D03-534D-4945-ACDF-372CD7F2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03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1A809F-8BFE-4CDA-AFCF-BA1A5624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$1,814.34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F8150E-501E-43F8-A6F1-FDB13621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337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月額合計 USD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35D83C-E4A3-4B7C-85BD-462A4861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38550"/>
            <a:ext cx="2266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3B7F4A-53AE-4571-9B37-D538FBB7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385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11045B-2536-4DBA-9CE2-F6F79032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9095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$21,772.08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6E6CC2-C23B-4C38-AF25-E690AC39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年額合計 USD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BA4C8B-7FBD-4890-A191-6B17B092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76800"/>
            <a:ext cx="2266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BEE5DE-E0B9-4638-98E8-36323E5A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768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C063B2-4D28-41CD-A8AF-E8460C46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2920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¥3,379,027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FE6B17-82AF-4CB6-8389-763DF33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4102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年額合計 JPY</a:t>
            </a:r>
          </a:p>
        </p:txBody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23F9E436-5398-4B5D-8DA4-2540905A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Known-price basis only; tax, discount, EA/CSP commercial terms are excluded.</a:t>
            </a:r>
          </a:p>
        </p:txBody>
      </p:sp>
      <p:sp>
        <p:nvSpPr>
          <p:cNvPr id="4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BDB4727-6BE1-4E44-A1D8-38F863D6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03309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2B7C2D-9287-4BA4-979C-6CC2D9F9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352025-4A1B-481D-AFCF-AF8B570F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EC7F7E-74C0-4BA1-ADB2-EA884199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LICENSE RATIONALE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E7808-75E4-4CB7-93FD-AB663677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既存充足と追加購入をSKU別に分けて説明できる。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12CED-7C0C-464C-8E53-0365E6FE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17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0716C-3397-487F-B461-C4B38E1C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SKU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86D1F-5138-45A3-968C-CEF7103A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669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必要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05309-A988-4DC0-9EDF-DD14452D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669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既存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41744-F40F-415B-B27C-EA6D2481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追加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F44FC-2B1F-4EC4-AF1D-4513413C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根拠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76885-F006-4580-A7BB-155C74DE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5E7AA-9A31-414B-A8D4-DDA6A96D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Microsoft 365 / E3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7C1AD-3445-4BC2-89A7-3580534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70F78-C7B6-4548-BF2D-CACD5648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BF0A6-6E99-4252-901D-20A70447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C2234-8EF2-4AB5-BC9F-CE8D6544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既存充足 / user/month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66A09-FCF2-4874-813A-D64AA6CC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4"/>
          </a:solidFill>
          <a:ln xmlns:a="http://schemas.openxmlformats.org/drawingml/2006/main" w="5715">
            <a:solidFill>
              <a:srgbClr val="D7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A2407-5EC4-43A1-9850-400C3299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Power Apps / Premium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8417E-D566-4243-9023-4B02C30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D07FA-AA62-494A-98AA-46DFFD0C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6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E39A3-B328-45E3-ACFF-636BC980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46771-C311-4CCB-B7CE-2B36B443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追加購入候補 / user/month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EA556-C53B-48C4-BE6F-156C3E78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21881-0CF2-4D11-A825-9F3853C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Power Automate / Premium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BF2C3-E5C3-4B40-BE49-B391BF42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5D1A95-7FEB-4B19-8ACF-66D7E553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19CD3-CA17-4300-8F66-9223BF69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78269-CB92-4495-9B6A-0F543AE4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追加購入候補 / user/month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9490E6-FB99-487E-B573-742AC9CC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4"/>
          </a:solidFill>
          <a:ln xmlns:a="http://schemas.openxmlformats.org/drawingml/2006/main" w="5715">
            <a:solidFill>
              <a:srgbClr val="D7D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E14FC-9204-4C09-BB8A-8258340D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Copilot Studio / Messages or capacity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CA763-16C9-4F6C-B147-7F38EC52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433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6EA1D4-15AD-4D35-93A2-D338B26F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4CBB1-3935-4DC8-A1E5-FF6BCE89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D059BF-55D8-4FEF-823C-E2B85C4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追加購入候補 / tenant/month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2BAEBB-4591-4EEB-ADFB-C1D35459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A25794-0DF2-4668-AA3D-987F25DE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Power BI / Pro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D60BAD-89D3-4841-9BA1-9B290DC6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814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0DBF1-B3D5-4E72-9C7C-8F67DF97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814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1E4591-9421-4483-BF28-71BFF2CD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814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BF8C19-1FBF-418F-B93D-A6078190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既存充足 / user/month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162E2F-5862-49EA-89E2-A289D52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4"/>
          </a:solidFill>
          <a:ln xmlns:a="http://schemas.openxmlformats.org/drawingml/2006/main" w="5715">
            <a:solidFill>
              <a:srgbClr val="D7DE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BBEABF-E0D7-4A30-B39D-E1021E54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Azure OpenAI / Token 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55B832-B253-4F65-8006-FA67DA5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9BF9EF-974E-4B28-9CF8-047CFFE5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196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58DC4E-FEB2-47D7-AAC2-B2B631FD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196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D87FF3-18B5-48B6-9CF5-4AB2FBAA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9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従量課金候補 / token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B15716-8A55-425C-B2FD-4C73F02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076031-6AF1-4958-A2FE-5613F07E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Microsoft Entra ID / P1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7E1AC0-1145-45C0-ADA1-39452D2F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577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68D087-3620-46BD-B76E-6E55D3A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A10936-F07F-46E4-BB1E-5A88C838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577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C0D193-FC24-4CBF-B21F-37A0BD39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57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追加購入候補 / user/month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A89EB9-9882-4349-8617-4E3B292D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4"/>
          </a:solidFill>
          <a:ln xmlns:a="http://schemas.openxmlformats.org/drawingml/2006/main" w="5715">
            <a:solidFill>
              <a:srgbClr val="D7DEE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4776DB-8117-466A-ABC2-ED14250A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Azure Monitor / Log ingestion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4DF949-D80C-496B-A7FD-F87C5AF0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95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997BCB-F2D0-4051-8CBB-67A9F312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95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64C652-CF74-44C2-9B58-A9808FB3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95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E39B66-17A4-4E02-96BA-6720B742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95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従量課金候補 / GB/month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CB6CE4-8D72-4B00-A9FD-EF46F965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017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15042C9-5D2E-4613-B157-962B47D5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Microsoft Defender for Business / Defender for Business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812CEF-C9C0-46C2-AF80-8D5852AF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215F49-56CB-4377-B3A2-8A0B587C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734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FEBFC8-9EB8-4094-B1A3-5CE27781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34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CFA12E-B191-4EE2-8538-16301B8F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734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追加購入候補 / user/month</a:t>
            </a:r>
          </a:p>
        </p:txBody>
      </p:sp>
      <p:sp>
        <p:nvSpPr>
          <p:cNvPr id="65" name="footer">
            <a:extLst xmlns:a="http://schemas.openxmlformats.org/drawingml/2006/main">
              <a:ext uri="{FF2B5EF4-FFF2-40B4-BE49-F238E27FC236}">
                <a16:creationId xmlns:a16="http://schemas.microsoft.com/office/drawing/2014/main" id="{B773AE7F-4B2B-466D-98B5-EE5D0724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Existing license offset is based on supplied existing_licenses.csv / input JSON.</a:t>
            </a:r>
          </a:p>
        </p:txBody>
      </p:sp>
      <p:sp>
        <p:nvSpPr>
          <p:cNvPr id="6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6C082F8-3A5E-455D-A69C-6160C117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59238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C77A24-B396-4238-94B3-336B2FBC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85C23C-46A4-459F-84D6-E3CE39ED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53156C-5FBC-4353-BC8B-064985DF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ASSUMPTIONS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336D0-DDD0-4608-9E90-914C99E7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PoC見積は、価格基準日と利用量前提を明示して次の確認に進める。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62A32-B52A-424B-A9EF-22F7F6E2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2365C-2C5D-4CC5-9F23-AC218E6A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411C2-B3A8-4F90-B138-9C8F17BF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Azure OpenAI前提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736A4-AF6B-42D1-9B6A-12546355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838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Japan East / gpt-4o-mini-0718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入力 20,000,000 tokens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出力 5,000,000 tokens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概算 $6.00 /月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E571F-0BD2-4AF3-8230-313E1D27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B22A1-BECE-47C3-AE71-66B5DD66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FAAED-99AB-44F8-A68F-419E664A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価格・為替前提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6F2AF-AE93-493A-9A56-E889A83E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2838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価格基準: 2026-06-14 09:00 +09:00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為替基準: 2026-06-12 09:00 +09:00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1 USD = 155.2 JPY</a:t>
            </a:r>
          </a:p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税・割引は未反映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EEC52-BE97-43A2-A103-67186E9F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CDF8A-E067-4B3C-AABF-6B6880AB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FE3D1-0E1D-4307-8883-AA9FC669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注意事項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DCD8F-9771-4DD4-95F5-70E72BD7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2838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正式見積では契約形態、既存プラン内包、EA/CSP割引、リージョン差、課金無料枠を確認する。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85737-91BB-4E59-AB7F-070F6F74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382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1D994-1187-4F66-BE9F-FE7E0BDA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次アクション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3A8D0-B5FA-477A-9CFE-42CA36EA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37C05-571B-459C-88D7-FCD2829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既存M365/Power Platformライセンスの内包範囲を確認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9D4D3-96CF-4C52-B547-A51A45E4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91554-90DA-4B44-955E-2CE0C8A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768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Azure OpenAIのモデル・リージョン・月間トークンをPoC設計で更新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4B98A-8C5D-43D6-A40A-31BD9B2F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D23949-06F5-41D6-AF7B-09FF8BC2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公式価格スナップショットを再取得し、Excel/MD/PPTを再生成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BF82ADDC-1247-4B29-ADEF-F125277D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Final purchasing decision should be confirmed with Microsoft or the reseller.</a:t>
            </a:r>
          </a:p>
        </p:txBody>
      </p:sp>
      <p:sp>
        <p:nvSpPr>
          <p:cNvPr id="2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C19A794-012D-4ECB-8030-17162891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15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7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7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3704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2026-06-14T09:50:15.5650000Z</dcterms:created>
  <dcterms:modified xsi:type="dcterms:W3CDTF">2026-06-14T09:50:15.5650000Z</dcterms:modified>
</coreProperties>
</file>